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91440"/>
            <a:ext cx="3108960" cy="3108960"/>
          </a:xfrm>
          <a:prstGeom prst="ellipse">
            <a:avLst/>
          </a:prstGeom>
          <a:noFill/>
          <a:ln w="31750">
            <a:solidFill>
              <a:srgbClr val="8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23883" y="437083"/>
            <a:ext cx="2051913" cy="2051913"/>
          </a:xfrm>
          <a:prstGeom prst="ellipse">
            <a:avLst/>
          </a:prstGeom>
          <a:noFill/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21316" y="934516"/>
            <a:ext cx="1057046" cy="1057046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85832" y="139903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554480" cy="4023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TEMA 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Economia de energia</a:t>
            </a:r>
          </a:p>
          <a:p>
            <a:r>
              <a:rPr sz="4400" b="1" i="0">
                <a:solidFill>
                  <a:srgbClr val="8FD4CB"/>
                </a:solidFill>
                <a:latin typeface="Calibri"/>
              </a:rPr>
              <a:t>(intenção simulada)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Calibri"/>
              </a:rPr>
              <a:t>Projeto integrador — Análise de Dados aplicada a Redes de Telecomunicações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8FD4CB"/>
                </a:solidFill>
                <a:latin typeface="Calibri"/>
              </a:rPr>
              <a:t>Prof. Jonas Augusto Kunzler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029200"/>
            <a:ext cx="2011680" cy="254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libri"/>
              </a:rPr>
              <a:t>Alessandro Rocha   ·   Erik Ferreira   ·   Alexandre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Pergunta do grupo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02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286000"/>
            <a:ext cx="98142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/>
            <a:r>
              <a:rPr sz="2400" b="0" i="1">
                <a:solidFill>
                  <a:srgbClr val="0B2545"/>
                </a:solidFill>
                <a:latin typeface="Calibri"/>
              </a:rPr>
              <a:t>Em que trechos do experimento a carga da célula está baixa o suficiente para, em tese, justificar uma política de economia de energia —</a:t>
            </a:r>
          </a:p>
          <a:p>
            <a:pPr algn="ctr"/>
            <a:r>
              <a:rPr sz="2400" b="1" i="1">
                <a:solidFill>
                  <a:srgbClr val="2A9D8F"/>
                </a:solidFill>
                <a:latin typeface="Calibri"/>
              </a:rPr>
              <a:t>sem desligar nada de verdade?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Fonte de dados 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03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585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73152" cy="56692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417320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1325880"/>
            <a:ext cx="1025316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kpm-ue-tp-sample — trilha offline oficial da disciplina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0824"/>
            <a:ext cx="1118585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020824"/>
            <a:ext cx="73152" cy="56692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2112264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2020824"/>
            <a:ext cx="1025316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Lab oai-cn-gnb-nonrt-nearrt · caso UE-TP / load-anomaly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15768"/>
            <a:ext cx="1118585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715768"/>
            <a:ext cx="73152" cy="56692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2807208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" y="2715768"/>
            <a:ext cx="1025316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run_id = ue-tp-20260804-174422 · 100 amostras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10712"/>
            <a:ext cx="1118585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410712"/>
            <a:ext cx="73152" cy="56692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3502152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1016" y="3410712"/>
            <a:ext cx="1025316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Fases: baseline (20) → stress (60) → recovery (20)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97096"/>
            <a:ext cx="11185855" cy="640080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700" b="0" i="0">
                <a:solidFill>
                  <a:srgbClr val="FFFFFF"/>
                </a:solidFill>
                <a:latin typeface="Consolas"/>
              </a:rPr>
              <a:t>01_etl_kpm.ipynb   →   02_eda_kpm.ipynb   →   03_recomendacao_a1.ipynb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97096"/>
            <a:ext cx="73152" cy="6400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Qualidade dos dados (QC)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04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73152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508760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71600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Sem payload vazio e sem duplicatas por (run_id, phase, sample_index)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57984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157984"/>
            <a:ext cx="73152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2295144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157984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ingested_at em UTC (ISO 8601)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44368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944368"/>
            <a:ext cx="73152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308152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2944368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DRB.UEThpDl 100% nulo — gap de coleta, não usado nos indicadores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30752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730752"/>
            <a:ext cx="73152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386791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730752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Apenas 1 run_id disponível — resultado descreve este experimento específico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47472"/>
            <a:ext cx="566928" cy="56692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KPI 1 — Fração de tempo em baixa carga (FBC)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05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943600" cy="777240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400" b="0" i="0">
                <a:solidFill>
                  <a:srgbClr val="FFFFFF"/>
                </a:solidFill>
                <a:latin typeface="Consolas"/>
              </a:rPr>
              <a:t>FBC(fase) = nº amostras com RRU.PrbTotUl &lt;= 10%  /  nº total de amostras na fase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73152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33172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FBC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baseline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100,0%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stress</a:t>
                      </a:r>
                    </a:p>
                  </a:txBody>
                  <a:tcPr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1,7% (outlier)</a:t>
                      </a:r>
                    </a:p>
                  </a:txBody>
                  <a:tcPr marT="36576" marB="36576">
                    <a:solidFill>
                      <a:srgbClr val="F7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recovery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95,0%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766560" y="1508760"/>
            <a:ext cx="4846320" cy="193686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kpi1_prb_janela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45920"/>
            <a:ext cx="4572000" cy="1662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47472"/>
            <a:ext cx="566928" cy="56692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KQI 2 — Vazão e delay na baixa carga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06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943600" cy="868680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400" b="0" i="0">
                <a:solidFill>
                  <a:srgbClr val="FFFFFF"/>
                </a:solidFill>
                <a:latin typeface="Consolas"/>
              </a:rPr>
              <a:t>ThpUL_bc = média(DRB.UEThpUl | baixa_carga=True)
Delay_bc = média(DRB.RlcSduDelayDl | baixa_carga=True)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73152" cy="8686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423160"/>
          <a:ext cx="5943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Vazão UL média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Delay médio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baseline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3,72 Mbps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55,25 ms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recovery</a:t>
                      </a:r>
                    </a:p>
                  </a:txBody>
                  <a:tcPr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3,68 Mbps</a:t>
                      </a:r>
                    </a:p>
                  </a:txBody>
                  <a:tcPr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81,21 ms</a:t>
                      </a:r>
                    </a:p>
                  </a:txBody>
                  <a:tcPr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766560" y="1508760"/>
            <a:ext cx="4846320" cy="193686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kqi2_qualidade_janela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45920"/>
            <a:ext cx="4572000" cy="1662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07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O que os indicadores não provam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07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73152" cy="658368"/>
          </a:xfrm>
          <a:prstGeom prst="roundRect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508760"/>
            <a:ext cx="384048" cy="384048"/>
          </a:xfrm>
          <a:prstGeom prst="ellipse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71600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FBC é um proxy de oportunidade — não mede consumo de energia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57984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157984"/>
            <a:ext cx="73152" cy="658368"/>
          </a:xfrm>
          <a:prstGeom prst="roundRect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2295144"/>
            <a:ext cx="384048" cy="384048"/>
          </a:xfrm>
          <a:prstGeom prst="ellipse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157984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Amostra pequena (100 pontos, 1 run_id) — sem poder estatístico para generalizar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44368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944368"/>
            <a:ext cx="73152" cy="658368"/>
          </a:xfrm>
          <a:prstGeom prst="roundRect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3081528"/>
            <a:ext cx="384048" cy="384048"/>
          </a:xfrm>
          <a:prstGeom prst="ellipse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2944368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stress | baixa_carga=True tem só 1 ponto — outlier, não tendência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30752"/>
            <a:ext cx="11185855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730752"/>
            <a:ext cx="73152" cy="658368"/>
          </a:xfrm>
          <a:prstGeom prst="roundRect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3867912"/>
            <a:ext cx="384048" cy="384048"/>
          </a:xfrm>
          <a:prstGeom prst="ellipse">
            <a:avLst/>
          </a:prstGeom>
          <a:solidFill>
            <a:srgbClr val="D6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730752"/>
            <a:ext cx="10253167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Sem atuação física na RAN — toda política aqui é intenção simulada (dry-run)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08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Recomendação / Política A1 (dry-run)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08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5855" cy="685800"/>
          </a:xfrm>
          <a:prstGeom prst="round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candidatar_economia(fase) = FBC(fase) &gt;= 90%  AND  Delay_bc(fase) &lt;= 161,98 ms (delay do stress)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73152" cy="6858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2860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 marT="54864" marB="54864"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baseline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A9D8F"/>
                          </a:solidFill>
                        </a:rPr>
                        <a:t>apply</a:t>
                      </a:r>
                    </a:p>
                  </a:txBody>
                  <a:tcPr marT="36576" marB="36576">
                    <a:solidFill>
                      <a:srgbClr val="E1F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stress</a:t>
                      </a:r>
                    </a:p>
                  </a:txBody>
                  <a:tcPr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64B3A"/>
                          </a:solidFill>
                        </a:rPr>
                        <a:t>do_not_apply</a:t>
                      </a:r>
                    </a:p>
                  </a:txBody>
                  <a:tcPr marT="36576" marB="36576">
                    <a:solidFill>
                      <a:srgbClr val="FBE3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33B"/>
                          </a:solidFill>
                        </a:rPr>
                        <a:t>recovery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A9D8F"/>
                          </a:solidFill>
                        </a:rPr>
                        <a:t>apply</a:t>
                      </a:r>
                    </a:p>
                  </a:txBody>
                  <a:tcPr marT="36576" marB="36576">
                    <a:solidFill>
                      <a:srgbClr val="E1F2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26480" y="24231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B2545"/>
                </a:solidFill>
                <a:latin typeface="Calibri"/>
              </a:rPr>
              <a:t>Artefato dry-run:</a:t>
            </a:r>
          </a:p>
          <a:p>
            <a:r>
              <a:rPr sz="1500" b="0" i="0">
                <a:solidFill>
                  <a:srgbClr val="2A9D8F"/>
                </a:solidFill>
                <a:latin typeface="Consolas"/>
              </a:rPr>
              <a:t>derived/decision_g6.json</a:t>
            </a:r>
          </a:p>
          <a:p>
            <a:pPr>
              <a:spcBef>
                <a:spcPts val="1000"/>
              </a:spcBef>
            </a:pPr>
            <a:r>
              <a:rPr sz="1500" b="0" i="1">
                <a:solidFill>
                  <a:srgbClr val="22333B"/>
                </a:solidFill>
                <a:latin typeface="Calibri"/>
              </a:rPr>
              <a:t>Sempre actuation.mode = "emulate" — nunca AI_POLICY_COMMIT=1.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09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Limitações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09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85855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73152" cy="585216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39903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298448"/>
            <a:ext cx="10253167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RFSIM ≠ rede real — telemetria sintética de laboratório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75104"/>
            <a:ext cx="11185855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975104"/>
            <a:ext cx="73152" cy="585216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2075688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1975104"/>
            <a:ext cx="10253167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Amostra curta, único run_id, poucos 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51760"/>
            <a:ext cx="11185855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651760"/>
            <a:ext cx="73152" cy="585216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2752344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2651760"/>
            <a:ext cx="10253167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Sem atuação física na RAN — dry-run apenas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28416"/>
            <a:ext cx="11185855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328416"/>
            <a:ext cx="73152" cy="585216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3429000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328416"/>
            <a:ext cx="10253167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Dados sintéticos, sem informação pessoal — uso acadêmico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05072"/>
            <a:ext cx="11185855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005072"/>
            <a:ext cx="73152" cy="585216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" y="4105656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" y="4005072"/>
            <a:ext cx="10253167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Não mede consumo de energia real (proxy de oportunidade)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1575" y="292608"/>
            <a:ext cx="685800" cy="384048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347472"/>
            <a:ext cx="566928" cy="56692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"/>
            <a:ext cx="90827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Conclusão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0637215" cy="2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A84"/>
                </a:solidFill>
                <a:latin typeface="Calibri"/>
              </a:rPr>
              <a:t>G6 · Economia de energia (intenção simulada) — CESAR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A84"/>
                </a:solidFill>
                <a:latin typeface="Calibri"/>
              </a:rPr>
              <a:t>10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11185855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73152" cy="7772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659636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1463040"/>
            <a:ext cx="10253167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Baseline e recovery concentram as janelas de baixa carga, com qualidade estável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68296"/>
            <a:ext cx="11185855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368296"/>
            <a:ext cx="73152" cy="7772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2564892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2368296"/>
            <a:ext cx="10253167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Stress elimina qualquer oportunidade de economia de energia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3552"/>
            <a:ext cx="11185855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273552"/>
            <a:ext cx="73152" cy="77724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3470148"/>
            <a:ext cx="384048" cy="38404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" y="3273552"/>
            <a:ext cx="10253167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22333B"/>
                </a:solidFill>
                <a:latin typeface="Calibri"/>
              </a:rPr>
              <a:t>Próximo passo: repetir o experimento com mais run_ids e mais UEs para validar se o padrão se generaliza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389120"/>
            <a:ext cx="2377440" cy="2377440"/>
          </a:xfrm>
          <a:prstGeom prst="ellipse">
            <a:avLst/>
          </a:prstGeom>
          <a:noFill/>
          <a:ln w="31750">
            <a:solidFill>
              <a:srgbClr val="8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" y="4793284"/>
            <a:ext cx="1569110" cy="1569110"/>
          </a:xfrm>
          <a:prstGeom prst="ellipse">
            <a:avLst/>
          </a:prstGeom>
          <a:noFill/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16075" y="5173675"/>
            <a:ext cx="808329" cy="808329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56232" y="551383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94960" y="1737360"/>
            <a:ext cx="1005840" cy="10058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Obrigado — perguntas?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D4CB"/>
                </a:solidFill>
                <a:latin typeface="Calibri"/>
              </a:rPr>
              <a:t>Defesa individual: cada integrante responde pela parte que liderou</a:t>
            </a:r>
          </a:p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dados/QC  ·  indicadores/análise  ·  decisão/limitações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